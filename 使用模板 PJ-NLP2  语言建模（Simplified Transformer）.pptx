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1" r:id="rId6"/>
    <p:sldId id="262" r:id="rId7"/>
    <p:sldId id="420" r:id="rId8"/>
    <p:sldId id="265" r:id="rId9"/>
    <p:sldId id="266" r:id="rId10"/>
    <p:sldId id="267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>
            <a:extLst>
              <a:ext uri="{FF2B5EF4-FFF2-40B4-BE49-F238E27FC236}">
                <a16:creationId xmlns:a16="http://schemas.microsoft.com/office/drawing/2014/main" id="{160D1C33-BEBD-457D-8305-3D9FD1FE61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9144000" cy="3042047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8270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-914400"/>
            <a:ext cx="3291840" cy="3291840"/>
          </a:xfrm>
          <a:prstGeom prst="ellipse">
            <a:avLst/>
          </a:prstGeom>
          <a:solidFill>
            <a:srgbClr val="0B2545">
              <a:alpha val="22000"/>
            </a:srgbClr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4096512"/>
            <a:ext cx="9144000" cy="512064"/>
          </a:xfrm>
          <a:prstGeom prst="rect">
            <a:avLst/>
          </a:prstGeom>
          <a:solidFill>
            <a:srgbClr val="C9302C">
              <a:alpha val="82000"/>
            </a:srgbClr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b="1" kern="0" spc="180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INTRO PROJECT TEMPLATE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658368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417320"/>
            <a:ext cx="7863840" cy="9723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人工智能导论课程项目汇报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54224"/>
            <a:ext cx="7863840" cy="777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D6E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题目：NLP2</a:t>
            </a:r>
            <a:r>
              <a:rPr lang="en-US" altLang="zh-CN" sz="1600" dirty="0">
                <a:solidFill>
                  <a:srgbClr val="D6E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-</a:t>
            </a:r>
            <a:r>
              <a:rPr lang="zh-CN" altLang="en-US" sz="1600" dirty="0">
                <a:solidFill>
                  <a:srgbClr val="D6E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语言建模（</a:t>
            </a:r>
            <a:r>
              <a:rPr lang="en-US" altLang="zh-CN" sz="1600" dirty="0">
                <a:solidFill>
                  <a:srgbClr val="D6E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Simplified Transformer</a:t>
            </a:r>
            <a:r>
              <a:rPr lang="zh-CN" altLang="en-US" sz="1600" dirty="0">
                <a:solidFill>
                  <a:srgbClr val="D6E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）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D6E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Group</a:t>
            </a:r>
            <a:r>
              <a:rPr lang="en-US" altLang="zh-CN" sz="1600" dirty="0">
                <a:solidFill>
                  <a:srgbClr val="D6E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r>
              <a:rPr lang="en-US" sz="1600" dirty="0">
                <a:solidFill>
                  <a:srgbClr val="D6E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| </a:t>
            </a:r>
            <a:r>
              <a:rPr lang="en-US" sz="1600" dirty="0" err="1">
                <a:solidFill>
                  <a:srgbClr val="D6E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成员</a:t>
            </a:r>
            <a:r>
              <a:rPr lang="en-US" sz="1600" dirty="0">
                <a:solidFill>
                  <a:srgbClr val="D6E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：</a:t>
            </a:r>
            <a:r>
              <a:rPr lang="zh-CN" altLang="en-US" sz="1600" dirty="0">
                <a:solidFill>
                  <a:srgbClr val="D6E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余全霖 </a:t>
            </a:r>
            <a:r>
              <a:rPr lang="en-US" altLang="zh-CN" sz="1600" dirty="0">
                <a:solidFill>
                  <a:srgbClr val="D6E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24307110105</a:t>
            </a:r>
            <a:r>
              <a:rPr lang="en-US" sz="1600" dirty="0">
                <a:solidFill>
                  <a:srgbClr val="D6E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| 日期：</a:t>
            </a:r>
            <a:r>
              <a:rPr lang="en-US" altLang="zh-CN" sz="1600" dirty="0">
                <a:solidFill>
                  <a:srgbClr val="D6E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2026</a:t>
            </a:r>
            <a:r>
              <a:rPr lang="en-US" sz="1600" dirty="0">
                <a:solidFill>
                  <a:srgbClr val="D6E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-</a:t>
            </a:r>
            <a:r>
              <a:rPr lang="en-US" altLang="zh-CN" sz="1600" dirty="0">
                <a:solidFill>
                  <a:srgbClr val="D6E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r>
              <a:rPr lang="en-US" sz="1600" dirty="0">
                <a:solidFill>
                  <a:srgbClr val="D6E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-</a:t>
            </a:r>
            <a:r>
              <a:rPr lang="en-US" altLang="zh-CN" sz="1600" dirty="0">
                <a:solidFill>
                  <a:srgbClr val="D6E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汇报路线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036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建议 8-12 分钟版本保留这 6 个节点；时间更短时合并数据与实验设置。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457200" y="957834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7200" y="925830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396746"/>
            <a:ext cx="8229600" cy="50063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396746"/>
            <a:ext cx="73152" cy="50063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 txBox="1"/>
          <p:nvPr/>
        </p:nvSpPr>
        <p:spPr>
          <a:xfrm>
            <a:off x="658368" y="1543050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1755648" y="1488186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问题定义</a:t>
            </a:r>
            <a:endParaRPr lang="en-US" sz="1140" dirty="0"/>
          </a:p>
        </p:txBody>
      </p:sp>
      <p:sp>
        <p:nvSpPr>
          <p:cNvPr id="10" name="Text 8"/>
          <p:cNvSpPr txBox="1"/>
          <p:nvPr/>
        </p:nvSpPr>
        <p:spPr>
          <a:xfrm>
            <a:off x="3950208" y="1506474"/>
            <a:ext cx="4590288" cy="2994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任务、输入输出、评价指标。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57200" y="2043684"/>
            <a:ext cx="8229600" cy="50063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043684"/>
            <a:ext cx="73152" cy="50063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658368" y="2189988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C93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755648" y="2135124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数据</a:t>
            </a:r>
            <a:endParaRPr lang="en-US" sz="1140" dirty="0"/>
          </a:p>
        </p:txBody>
      </p:sp>
      <p:sp>
        <p:nvSpPr>
          <p:cNvPr id="15" name="Text 13"/>
          <p:cNvSpPr txBox="1"/>
          <p:nvPr/>
        </p:nvSpPr>
        <p:spPr>
          <a:xfrm>
            <a:off x="3950208" y="2153412"/>
            <a:ext cx="4590288" cy="2994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来源、规模、预处理、划分方式。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57200" y="2690622"/>
            <a:ext cx="8229600" cy="50063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2690622"/>
            <a:ext cx="73152" cy="50063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658368" y="2836926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1755648" y="278206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方法</a:t>
            </a:r>
            <a:endParaRPr lang="en-US" sz="1140" dirty="0"/>
          </a:p>
        </p:txBody>
      </p:sp>
      <p:sp>
        <p:nvSpPr>
          <p:cNvPr id="20" name="Text 18"/>
          <p:cNvSpPr txBox="1"/>
          <p:nvPr/>
        </p:nvSpPr>
        <p:spPr>
          <a:xfrm>
            <a:off x="3950208" y="2800350"/>
            <a:ext cx="4590288" cy="2994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基线模型 + 改进模型。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57200" y="3337560"/>
            <a:ext cx="8229600" cy="50063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457200" y="3337560"/>
            <a:ext cx="73152" cy="50063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 txBox="1"/>
          <p:nvPr/>
        </p:nvSpPr>
        <p:spPr>
          <a:xfrm>
            <a:off x="658368" y="3483864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C93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1755648" y="342900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实验</a:t>
            </a:r>
            <a:endParaRPr lang="en-US" sz="1140" dirty="0"/>
          </a:p>
        </p:txBody>
      </p:sp>
      <p:sp>
        <p:nvSpPr>
          <p:cNvPr id="25" name="Text 23"/>
          <p:cNvSpPr txBox="1"/>
          <p:nvPr/>
        </p:nvSpPr>
        <p:spPr>
          <a:xfrm>
            <a:off x="3950208" y="3447288"/>
            <a:ext cx="4590288" cy="2994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超参、训练细节、随机种子。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57200" y="3984498"/>
            <a:ext cx="8229600" cy="50063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457200" y="3984498"/>
            <a:ext cx="73152" cy="50063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 txBox="1"/>
          <p:nvPr/>
        </p:nvSpPr>
        <p:spPr>
          <a:xfrm>
            <a:off x="658368" y="4130802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755648" y="407593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结果</a:t>
            </a:r>
            <a:endParaRPr lang="en-US" sz="1140" dirty="0"/>
          </a:p>
        </p:txBody>
      </p:sp>
      <p:sp>
        <p:nvSpPr>
          <p:cNvPr id="30" name="Text 28"/>
          <p:cNvSpPr txBox="1"/>
          <p:nvPr/>
        </p:nvSpPr>
        <p:spPr>
          <a:xfrm>
            <a:off x="3950208" y="4094226"/>
            <a:ext cx="4590288" cy="2994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主结果、对比、消融。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Sources: 课程项目说明：报告结构</a:t>
            </a:r>
            <a:endParaRPr lang="en-US" sz="840" dirty="0"/>
          </a:p>
        </p:txBody>
      </p:sp>
      <p:sp>
        <p:nvSpPr>
          <p:cNvPr id="33" name="Text 31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2/12</a:t>
            </a:r>
            <a:endParaRPr lang="en-US" sz="8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问题定义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957834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7200" y="925830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405890"/>
            <a:ext cx="2596896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405890"/>
            <a:ext cx="2596896" cy="9144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 txBox="1"/>
          <p:nvPr/>
        </p:nvSpPr>
        <p:spPr>
          <a:xfrm>
            <a:off x="685800" y="1661922"/>
            <a:ext cx="2139696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任务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247138"/>
            <a:ext cx="2139696" cy="15521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>
              <a:spcAft>
                <a:spcPts val="400"/>
              </a:spcAft>
            </a:pPr>
            <a:r>
              <a:rPr lang="zh-CN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从零实现简化版的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Encoder-only Transformer</a:t>
            </a:r>
            <a:r>
              <a:rPr lang="zh-CN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神经网络模型，构建小语言模型（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Small Language Model</a:t>
            </a:r>
            <a:r>
              <a:rPr lang="zh-CN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），训练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next-token</a:t>
            </a:r>
            <a:r>
              <a:rPr lang="zh-CN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预测，分析困惑度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sz="106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73552" y="1405890"/>
            <a:ext cx="2596896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3273552" y="1405890"/>
            <a:ext cx="2596896" cy="91440"/>
          </a:xfrm>
          <a:prstGeom prst="rect">
            <a:avLst/>
          </a:prstGeom>
          <a:solidFill>
            <a:srgbClr val="C9302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 txBox="1"/>
          <p:nvPr/>
        </p:nvSpPr>
        <p:spPr>
          <a:xfrm>
            <a:off x="3502152" y="1661922"/>
            <a:ext cx="2139696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输入与输出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02152" y="2247137"/>
            <a:ext cx="2082633" cy="14220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输入：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一段文本片段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输出：输入片段向后位移一个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token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得到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next-token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预测</a:t>
            </a:r>
            <a:r>
              <a:rPr lang="zh-CN" altLang="zh-CN" dirty="0"/>
              <a:t>。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6099048" y="1422349"/>
            <a:ext cx="2596896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089904" y="1405890"/>
            <a:ext cx="2596896" cy="9144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 txBox="1"/>
          <p:nvPr/>
        </p:nvSpPr>
        <p:spPr>
          <a:xfrm>
            <a:off x="6318504" y="1661922"/>
            <a:ext cx="2139696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评价指标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318504" y="2247138"/>
            <a:ext cx="2139696" cy="64922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dirty="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Helvetica Neue" pitchFamily="34" charset="-120"/>
              </a:rPr>
              <a:t>PPL</a:t>
            </a:r>
            <a:r>
              <a:rPr lang="zh-CN" altLang="en-US" dirty="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Helvetica Neue" pitchFamily="34" charset="-120"/>
              </a:rPr>
              <a:t>（困惑度）曲线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4/12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457200" y="4338828"/>
            <a:ext cx="822960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457200" y="4338828"/>
            <a:ext cx="50292" cy="40233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585216" y="4393692"/>
            <a:ext cx="797356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r>
              <a:rPr lang="zh-CN" altLang="en-US" sz="92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希望可以得到</a:t>
            </a:r>
            <a:r>
              <a:rPr lang="en-US" altLang="zh-CN" sz="92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PPL</a:t>
            </a:r>
            <a:r>
              <a:rPr lang="zh-CN" altLang="en-US" sz="92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曲线随着训练逐步下降</a:t>
            </a:r>
            <a:endParaRPr lang="en-US" sz="9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数据说明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036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把数据来源、规模、处理、划分方式写清楚。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457200" y="957834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7200" y="925830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535379"/>
              </p:ext>
            </p:extLst>
          </p:nvPr>
        </p:nvGraphicFramePr>
        <p:xfrm>
          <a:off x="457200" y="1268729"/>
          <a:ext cx="8229600" cy="3145080"/>
        </p:xfrm>
        <a:graphic>
          <a:graphicData uri="http://schemas.openxmlformats.org/drawingml/2006/table">
            <a:tbl>
              <a:tblPr/>
              <a:tblGrid>
                <a:gridCol w="1481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项目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NLP</a:t>
                      </a:r>
                      <a:r>
                        <a:rPr lang="en-US" altLang="zh-CN"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2-</a:t>
                      </a:r>
                      <a:r>
                        <a:rPr lang="zh-CN" altLang="en-US"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语言建模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" pitchFamily="34" charset="-12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数据来源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200" dirty="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《</a:t>
                      </a:r>
                      <a:r>
                        <a:rPr lang="zh-CN" altLang="en-US" sz="1200" dirty="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斗罗大陆</a:t>
                      </a:r>
                      <a:r>
                        <a:rPr lang="en-US" altLang="zh-CN" sz="1200" dirty="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》</a:t>
                      </a:r>
                      <a:r>
                        <a:rPr lang="zh-CN" altLang="en-US" sz="1200" dirty="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第一部， </a:t>
                      </a:r>
                      <a:r>
                        <a:rPr lang="en-US" altLang="zh-CN" sz="1200" dirty="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https://zhuanlan.zhihu.com/p/702283911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数据规模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200" dirty="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297.5</a:t>
                      </a:r>
                      <a:r>
                        <a:rPr lang="zh-CN" altLang="en-US" sz="1200" dirty="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万字符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预处理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200" dirty="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0"/>
                        </a:rPr>
                        <a:t>通过遍历文本得到词库，将字符转为数字，按</a:t>
                      </a:r>
                      <a:r>
                        <a:rPr lang="en-US" altLang="zh-CN" sz="1200" dirty="0" err="1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0"/>
                        </a:rPr>
                        <a:t>block_size</a:t>
                      </a:r>
                      <a:r>
                        <a:rPr lang="zh-CN" altLang="en-US" sz="1200" dirty="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0"/>
                        </a:rPr>
                        <a:t>大小切分成模型可接收的</a:t>
                      </a:r>
                      <a:r>
                        <a:rPr lang="en-US" altLang="zh-CN" sz="1200" dirty="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0"/>
                        </a:rPr>
                        <a:t>tensor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划分方式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20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0"/>
                        </a:rPr>
                        <a:t>按</a:t>
                      </a:r>
                      <a:r>
                        <a:rPr lang="en-US" altLang="zh-CN" sz="120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0"/>
                        </a:rPr>
                        <a:t>9</a:t>
                      </a:r>
                      <a:r>
                        <a:rPr lang="zh-CN" altLang="en-US" sz="120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0"/>
                        </a:rPr>
                        <a:t>：</a:t>
                      </a:r>
                      <a:r>
                        <a:rPr lang="en-US" altLang="zh-CN" sz="120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0"/>
                        </a:rPr>
                        <a:t>1</a:t>
                      </a:r>
                      <a:r>
                        <a:rPr lang="zh-CN" altLang="en-US" sz="120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0"/>
                        </a:rPr>
                        <a:t>随机划分为训练集与测试集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泄漏控制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200" dirty="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用</a:t>
                      </a:r>
                      <a:r>
                        <a:rPr lang="en-US" altLang="zh-CN" sz="1200" dirty="0" err="1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train_loader</a:t>
                      </a:r>
                      <a:r>
                        <a:rPr lang="zh-CN" altLang="en-US" sz="1200" dirty="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和</a:t>
                      </a:r>
                      <a:r>
                        <a:rPr lang="en-US" altLang="zh-CN" sz="1200" dirty="0" err="1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val_loader</a:t>
                      </a:r>
                      <a:r>
                        <a:rPr lang="zh-CN" altLang="en-US" sz="1200" dirty="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两个变量分别储存训练集与测试集，训练时只接收</a:t>
                      </a:r>
                      <a:r>
                        <a:rPr lang="en-US" altLang="zh-CN" sz="1200" dirty="0" err="1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train_loader</a:t>
                      </a:r>
                      <a:r>
                        <a:rPr lang="zh-CN" altLang="en-US" sz="1200" dirty="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的数据。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5/12</a:t>
            </a:r>
            <a:endParaRPr lang="en-US" sz="8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方法总览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787898" y="1724152"/>
            <a:ext cx="2770632" cy="21808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Baseline：替换为课程要求的基线，如 LogReg、Naive、1-NN+DTW、DQN、CNN、Lead-3。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Improved：替换为你的改进，如 XGBoost、1D-CNN、LSTM、ViT、Attention、RAG。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Implementation：写清关键实现细节，不贴长代码。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Fairness：同一划分、同一预算、同一指标下对比。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6/12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457200" y="4338828"/>
            <a:ext cx="822960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4338828"/>
            <a:ext cx="50292" cy="40233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 txBox="1"/>
          <p:nvPr/>
        </p:nvSpPr>
        <p:spPr>
          <a:xfrm>
            <a:off x="585216" y="4393692"/>
            <a:ext cx="797356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 err="1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这一页的结论</a:t>
            </a:r>
            <a:r>
              <a:rPr lang="en-US" sz="92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：</a:t>
            </a:r>
            <a:r>
              <a:rPr lang="zh-CN" altLang="en-US" sz="92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从零拆解步骤实现了模型</a:t>
            </a:r>
            <a:endParaRPr lang="en-US" sz="920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8AB6696D-D911-B7DB-3127-5DB9A38A2C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6737" y="222884"/>
            <a:ext cx="2852971" cy="431711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20DA6FEA-FFCE-B151-C722-0BE5DCC6E1F9}"/>
              </a:ext>
            </a:extLst>
          </p:cNvPr>
          <p:cNvSpPr txBox="1"/>
          <p:nvPr/>
        </p:nvSpPr>
        <p:spPr>
          <a:xfrm>
            <a:off x="457201" y="978681"/>
            <a:ext cx="4114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按照右图，从下至上将模型拆分成</a:t>
            </a:r>
            <a:r>
              <a:rPr lang="en-US" altLang="zh-CN" dirty="0"/>
              <a:t>Token Embedding</a:t>
            </a:r>
            <a:r>
              <a:rPr lang="zh-CN" altLang="en-US" dirty="0"/>
              <a:t>、</a:t>
            </a:r>
            <a:r>
              <a:rPr lang="en-US" altLang="zh-CN" dirty="0"/>
              <a:t>Positional Embedding</a:t>
            </a:r>
            <a:r>
              <a:rPr lang="zh-CN" altLang="en-US" dirty="0"/>
              <a:t>、</a:t>
            </a:r>
            <a:r>
              <a:rPr lang="en-US" altLang="zh-CN" dirty="0"/>
              <a:t>block</a:t>
            </a:r>
            <a:r>
              <a:rPr lang="zh-CN" altLang="en-US" dirty="0"/>
              <a:t>、一个归一化层、</a:t>
            </a:r>
            <a:r>
              <a:rPr lang="en-US" altLang="zh-CN" dirty="0" err="1"/>
              <a:t>softmax</a:t>
            </a:r>
            <a:r>
              <a:rPr lang="zh-CN" altLang="en-US" dirty="0"/>
              <a:t>函数。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F046DC1-7713-99E8-16FE-BBDF8E05A85B}"/>
              </a:ext>
            </a:extLst>
          </p:cNvPr>
          <p:cNvSpPr txBox="1"/>
          <p:nvPr/>
        </p:nvSpPr>
        <p:spPr>
          <a:xfrm>
            <a:off x="507493" y="2122240"/>
            <a:ext cx="3960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将</a:t>
            </a:r>
            <a:r>
              <a:rPr lang="en-US" altLang="zh-CN" dirty="0"/>
              <a:t>block</a:t>
            </a:r>
            <a:r>
              <a:rPr lang="zh-CN" altLang="en-US" dirty="0"/>
              <a:t>拆分成线性层、归一化层等等和最重要的自注意力机制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791D3F-771F-C77F-47A5-BEAD0B535FBC}"/>
              </a:ext>
            </a:extLst>
          </p:cNvPr>
          <p:cNvSpPr txBox="1"/>
          <p:nvPr/>
        </p:nvSpPr>
        <p:spPr>
          <a:xfrm>
            <a:off x="482346" y="3102936"/>
            <a:ext cx="4049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将自注意力机制拆分成多头注意力机制与单头注意力机制来实现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 实验设置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957834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7200" y="925830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0" y="1314450"/>
            <a:ext cx="0" cy="318897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2908935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3922776" y="1351026"/>
            <a:ext cx="402336" cy="402336"/>
          </a:xfrm>
          <a:prstGeom prst="ellipse">
            <a:avLst/>
          </a:prstGeom>
          <a:solidFill>
            <a:srgbClr val="0B2545">
              <a:alpha val="14000"/>
            </a:srgbClr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457200" y="1332738"/>
            <a:ext cx="53035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508428"/>
            <a:ext cx="3794760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环境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805847"/>
            <a:ext cx="3794760" cy="4880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Python</a:t>
            </a:r>
            <a:r>
              <a:rPr lang="en-US" altLang="zh-CN" sz="16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3.11.11</a:t>
            </a:r>
            <a:r>
              <a:rPr lang="zh-CN" altLang="en-US" sz="16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、</a:t>
            </a:r>
            <a:r>
              <a:rPr lang="en-US" altLang="zh-CN" sz="16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matplotlib3.10.9</a:t>
            </a:r>
            <a:r>
              <a:rPr lang="zh-CN" altLang="en-US" sz="16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、</a:t>
            </a:r>
            <a:r>
              <a:rPr lang="en-US" altLang="zh-CN" sz="16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Pytorch2.9.1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93024" y="1351026"/>
            <a:ext cx="402336" cy="402336"/>
          </a:xfrm>
          <a:prstGeom prst="ellipse">
            <a:avLst/>
          </a:prstGeom>
          <a:solidFill>
            <a:srgbClr val="C9302C">
              <a:alpha val="14000"/>
            </a:srgbClr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4727448" y="1332738"/>
            <a:ext cx="53035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C93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719809" y="1497215"/>
            <a:ext cx="3794760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随机性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727448" y="1775695"/>
            <a:ext cx="3794760" cy="4880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zh-CN" altLang="en-US" sz="16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固定</a:t>
            </a:r>
            <a:r>
              <a:rPr lang="en-US" altLang="zh-CN" sz="1600" dirty="0" err="1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Pytorch</a:t>
            </a:r>
            <a:r>
              <a:rPr lang="zh-CN" altLang="en-US" sz="16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的种子为</a:t>
            </a:r>
            <a:r>
              <a:rPr lang="en-US" altLang="zh-CN" sz="16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r>
              <a:rPr lang="zh-CN" altLang="en-US" sz="16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，除此之外无其他随机性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3922776" y="3100959"/>
            <a:ext cx="402336" cy="402336"/>
          </a:xfrm>
          <a:prstGeom prst="ellipse">
            <a:avLst/>
          </a:prstGeom>
          <a:solidFill>
            <a:srgbClr val="0B2545">
              <a:alpha val="14000"/>
            </a:srgbClr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457200" y="3082671"/>
            <a:ext cx="53035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43484" y="3230929"/>
            <a:ext cx="3794760" cy="27431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训练细节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516347"/>
            <a:ext cx="4184248" cy="10506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>
              <a:spcAft>
                <a:spcPts val="300"/>
              </a:spcAft>
            </a:pPr>
            <a:r>
              <a:rPr lang="en-US" sz="14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Epoch</a:t>
            </a:r>
            <a:r>
              <a:rPr lang="en-US" altLang="zh-CN" sz="14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=100</a:t>
            </a:r>
            <a:r>
              <a:rPr lang="zh-CN" altLang="en-US" sz="14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或</a:t>
            </a:r>
            <a:r>
              <a:rPr lang="en-US" altLang="zh-CN" sz="14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</a:t>
            </a:r>
            <a:r>
              <a:rPr lang="en-US" sz="14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、batch size</a:t>
            </a:r>
            <a:r>
              <a:rPr lang="en-US" altLang="zh-CN" sz="14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=12</a:t>
            </a:r>
            <a:r>
              <a:rPr lang="en-US" sz="14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、 </a:t>
            </a:r>
          </a:p>
          <a:p>
            <a:pPr>
              <a:spcAft>
                <a:spcPts val="300"/>
              </a:spcAft>
            </a:pPr>
            <a:r>
              <a:rPr lang="en-US" sz="14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optimizer = </a:t>
            </a:r>
            <a:r>
              <a:rPr lang="en-US" sz="1400" dirty="0" err="1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torch.optim.AdamW</a:t>
            </a:r>
            <a:r>
              <a:rPr lang="en-US" sz="14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</a:t>
            </a:r>
            <a:r>
              <a:rPr lang="en-US" sz="1400" dirty="0" err="1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model.parameters</a:t>
            </a:r>
            <a:r>
              <a:rPr lang="en-US" sz="14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(), </a:t>
            </a:r>
            <a:r>
              <a:rPr lang="en-US" sz="1400" dirty="0" err="1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lr</a:t>
            </a:r>
            <a:r>
              <a:rPr lang="en-US" sz="14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=3e-4)</a:t>
            </a:r>
          </a:p>
          <a:p>
            <a:pPr>
              <a:spcAft>
                <a:spcPts val="300"/>
              </a:spcAft>
            </a:pPr>
            <a:r>
              <a:rPr lang="en-US" sz="14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scheduler = </a:t>
            </a:r>
            <a:r>
              <a:rPr lang="en-US" sz="1400" dirty="0" err="1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torch.optim.lr_scheduler.CosineAnnealingLR</a:t>
            </a:r>
            <a:r>
              <a:rPr lang="en-US" sz="14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(optimizer, T_max=1000)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7/12</a:t>
            </a:r>
            <a:endParaRPr lang="en-US" sz="8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69044-81C1-ABBA-6109-E7EB88666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3">
            <a:extLst>
              <a:ext uri="{FF2B5EF4-FFF2-40B4-BE49-F238E27FC236}">
                <a16:creationId xmlns:a16="http://schemas.microsoft.com/office/drawing/2014/main" id="{2BB151D5-8650-3C71-88C4-014FCD7B4E5E}"/>
              </a:ext>
            </a:extLst>
          </p:cNvPr>
          <p:cNvSpPr txBox="1">
            <a:spLocks/>
          </p:cNvSpPr>
          <p:nvPr/>
        </p:nvSpPr>
        <p:spPr>
          <a:xfrm>
            <a:off x="197514" y="233039"/>
            <a:ext cx="2074390" cy="454432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5800">
              <a:spcBef>
                <a:spcPts val="750"/>
              </a:spcBef>
              <a:buNone/>
              <a:defRPr/>
            </a:pPr>
            <a:r>
              <a:rPr lang="zh-CN" altLang="en-US" sz="21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训结果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C123877-1EA5-BC57-0813-D46E997C34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2060" y="735545"/>
            <a:ext cx="3348373" cy="199751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3F3D27E-FC64-309F-CD94-F39DC3F0F8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718" y="735545"/>
            <a:ext cx="3348372" cy="199751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3A1D43B-2BAC-4ADA-BD30-B3E81522FB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717" y="2726554"/>
            <a:ext cx="3348373" cy="1997513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285B16A-C4F1-D617-DE54-DB3A3477371C}"/>
              </a:ext>
            </a:extLst>
          </p:cNvPr>
          <p:cNvSpPr txBox="1"/>
          <p:nvPr/>
        </p:nvSpPr>
        <p:spPr>
          <a:xfrm>
            <a:off x="1817694" y="1515436"/>
            <a:ext cx="995689" cy="368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1500" dirty="0">
                <a:latin typeface="+mn-ea"/>
              </a:rPr>
              <a:t>Head=1</a:t>
            </a:r>
            <a:endParaRPr lang="zh-CN" altLang="en-US" sz="1500" dirty="0">
              <a:latin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2A0A5E8-8E35-7A65-2F56-D657F2E40B55}"/>
              </a:ext>
            </a:extLst>
          </p:cNvPr>
          <p:cNvSpPr txBox="1"/>
          <p:nvPr/>
        </p:nvSpPr>
        <p:spPr>
          <a:xfrm>
            <a:off x="6478478" y="1515436"/>
            <a:ext cx="853119" cy="3688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1500" dirty="0">
                <a:latin typeface="+mn-ea"/>
              </a:rPr>
              <a:t>Head=4</a:t>
            </a:r>
            <a:endParaRPr lang="zh-CN" altLang="en-US" sz="1500" dirty="0">
              <a:latin typeface="+mn-ea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FC58988-7980-B2B1-9646-D51920C13716}"/>
              </a:ext>
            </a:extLst>
          </p:cNvPr>
          <p:cNvSpPr txBox="1"/>
          <p:nvPr/>
        </p:nvSpPr>
        <p:spPr>
          <a:xfrm>
            <a:off x="1775478" y="3431801"/>
            <a:ext cx="1080120" cy="368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1500" dirty="0">
                <a:latin typeface="+mn-ea"/>
              </a:rPr>
              <a:t>Head=12</a:t>
            </a:r>
            <a:endParaRPr lang="zh-CN" altLang="en-US" sz="1500" dirty="0">
              <a:latin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2C0B4E6-4212-0A7F-752D-0001DFC57BC3}"/>
              </a:ext>
            </a:extLst>
          </p:cNvPr>
          <p:cNvSpPr txBox="1"/>
          <p:nvPr/>
        </p:nvSpPr>
        <p:spPr>
          <a:xfrm>
            <a:off x="4333879" y="2712510"/>
            <a:ext cx="46597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350" dirty="0"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zh-CN" sz="1350" dirty="0">
                <a:ea typeface="宋体" panose="02010600030101010101" pitchFamily="2" charset="-122"/>
                <a:cs typeface="Times New Roman" panose="02020603050405020304" pitchFamily="18" charset="0"/>
              </a:rPr>
              <a:t>对比</a:t>
            </a:r>
            <a:r>
              <a:rPr lang="en-US" altLang="zh-CN" sz="1350" dirty="0">
                <a:ea typeface="宋体" panose="02010600030101010101" pitchFamily="2" charset="-122"/>
                <a:cs typeface="Times New Roman" panose="02020603050405020304" pitchFamily="18" charset="0"/>
              </a:rPr>
              <a:t>GPT-1</a:t>
            </a:r>
            <a:r>
              <a:rPr lang="zh-CN" altLang="zh-CN" sz="1350" dirty="0">
                <a:ea typeface="宋体" panose="02010600030101010101" pitchFamily="2" charset="-122"/>
                <a:cs typeface="Times New Roman" panose="02020603050405020304" pitchFamily="18" charset="0"/>
              </a:rPr>
              <a:t>的参数量与数据规模</a:t>
            </a:r>
            <a:r>
              <a:rPr lang="en-US" altLang="zh-CN" sz="1350" baseline="30000" dirty="0">
                <a:ea typeface="宋体" panose="02010600030101010101" pitchFamily="2" charset="-122"/>
                <a:cs typeface="Times New Roman" panose="02020603050405020304" pitchFamily="18" charset="0"/>
              </a:rPr>
              <a:t>[9]</a:t>
            </a:r>
            <a:r>
              <a:rPr lang="zh-CN" altLang="zh-CN" sz="1350" dirty="0"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350" dirty="0">
                <a:ea typeface="宋体" panose="02010600030101010101" pitchFamily="2" charset="-122"/>
                <a:cs typeface="Times New Roman" panose="02020603050405020304" pitchFamily="18" charset="0"/>
              </a:rPr>
              <a:t>GPT-1</a:t>
            </a:r>
            <a:r>
              <a:rPr lang="zh-CN" altLang="zh-CN" sz="1350" dirty="0">
                <a:ea typeface="宋体" panose="02010600030101010101" pitchFamily="2" charset="-122"/>
                <a:cs typeface="Times New Roman" panose="02020603050405020304" pitchFamily="18" charset="0"/>
              </a:rPr>
              <a:t>的参数量为</a:t>
            </a:r>
            <a:r>
              <a:rPr lang="en-US" altLang="zh-CN" sz="1350" dirty="0">
                <a:ea typeface="宋体" panose="02010600030101010101" pitchFamily="2" charset="-122"/>
                <a:cs typeface="Times New Roman" panose="02020603050405020304" pitchFamily="18" charset="0"/>
              </a:rPr>
              <a:t>117M</a:t>
            </a:r>
            <a:r>
              <a:rPr lang="zh-CN" altLang="zh-CN" sz="1350" dirty="0">
                <a:ea typeface="宋体" panose="02010600030101010101" pitchFamily="2" charset="-122"/>
                <a:cs typeface="Times New Roman" panose="02020603050405020304" pitchFamily="18" charset="0"/>
              </a:rPr>
              <a:t>，我的模型为</a:t>
            </a:r>
            <a:r>
              <a:rPr lang="en-US" altLang="zh-CN" sz="1350" dirty="0">
                <a:ea typeface="宋体" panose="02010600030101010101" pitchFamily="2" charset="-122"/>
                <a:cs typeface="Times New Roman" panose="02020603050405020304" pitchFamily="18" charset="0"/>
              </a:rPr>
              <a:t>46M</a:t>
            </a:r>
            <a:r>
              <a:rPr lang="zh-CN" altLang="zh-CN" sz="1350" dirty="0">
                <a:ea typeface="宋体" panose="02010600030101010101" pitchFamily="2" charset="-122"/>
                <a:cs typeface="Times New Roman" panose="02020603050405020304" pitchFamily="18" charset="0"/>
              </a:rPr>
              <a:t>，二者数量级接近；而</a:t>
            </a:r>
            <a:r>
              <a:rPr lang="en-US" altLang="zh-CN" sz="1350" dirty="0">
                <a:ea typeface="宋体" panose="02010600030101010101" pitchFamily="2" charset="-122"/>
                <a:cs typeface="Times New Roman" panose="02020603050405020304" pitchFamily="18" charset="0"/>
              </a:rPr>
              <a:t>GPT-1</a:t>
            </a:r>
            <a:r>
              <a:rPr lang="zh-CN" altLang="zh-CN" sz="1350" dirty="0">
                <a:ea typeface="宋体" panose="02010600030101010101" pitchFamily="2" charset="-122"/>
                <a:cs typeface="Times New Roman" panose="02020603050405020304" pitchFamily="18" charset="0"/>
              </a:rPr>
              <a:t>的数据规模为</a:t>
            </a:r>
            <a:r>
              <a:rPr lang="en-US" altLang="zh-CN" sz="1350" dirty="0">
                <a:ea typeface="宋体" panose="02010600030101010101" pitchFamily="2" charset="-122"/>
                <a:cs typeface="Times New Roman" panose="02020603050405020304" pitchFamily="18" charset="0"/>
              </a:rPr>
              <a:t>7000</a:t>
            </a:r>
            <a:r>
              <a:rPr lang="zh-CN" altLang="zh-CN" sz="1350" dirty="0">
                <a:ea typeface="宋体" panose="02010600030101010101" pitchFamily="2" charset="-122"/>
                <a:cs typeface="Times New Roman" panose="02020603050405020304" pitchFamily="18" charset="0"/>
              </a:rPr>
              <a:t>余本书，我的模型的数据规模仅为一本书，二者相差巨大</a:t>
            </a:r>
            <a:endParaRPr lang="zh-CN" altLang="en-US" sz="135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89B82EA-7BA3-E0AB-BC2A-CA2AC159D515}"/>
              </a:ext>
            </a:extLst>
          </p:cNvPr>
          <p:cNvSpPr txBox="1"/>
          <p:nvPr/>
        </p:nvSpPr>
        <p:spPr>
          <a:xfrm>
            <a:off x="4333879" y="3612757"/>
            <a:ext cx="4659765" cy="1030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00025">
              <a:lnSpc>
                <a:spcPct val="115000"/>
              </a:lnSpc>
              <a:spcAft>
                <a:spcPts val="600"/>
              </a:spcAft>
            </a:pPr>
            <a:r>
              <a:rPr lang="zh-CN" altLang="zh-CN" sz="135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随着注意力</a:t>
            </a:r>
            <a:r>
              <a:rPr lang="en-US" altLang="zh-CN" sz="135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head</a:t>
            </a:r>
            <a:r>
              <a:rPr lang="zh-CN" altLang="zh-CN" sz="135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数的增加，在最初几个</a:t>
            </a:r>
            <a:r>
              <a:rPr lang="en-US" altLang="zh-CN" sz="135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epoch</a:t>
            </a:r>
            <a:r>
              <a:rPr lang="zh-CN" altLang="zh-CN" sz="135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中，测试集上的</a:t>
            </a:r>
            <a:r>
              <a:rPr lang="en-US" altLang="zh-CN" sz="135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PPL</a:t>
            </a:r>
            <a:r>
              <a:rPr lang="zh-CN" altLang="zh-CN" sz="135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（或损失函数）下降的速度更快；但在训练的最后，</a:t>
            </a:r>
            <a:r>
              <a:rPr lang="en-US" altLang="zh-CN" sz="135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PPL</a:t>
            </a:r>
            <a:r>
              <a:rPr lang="zh-CN" altLang="zh-CN" sz="135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（或损失函数）的最低值基本上一致，这源于采用的训练数据集规模过小，能够学习的输入中的注意力过少。</a:t>
            </a:r>
            <a:endParaRPr lang="zh-CN" altLang="zh-CN" sz="1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D1D3DDB-095C-9A09-2CCB-B324A4F7B6E8}"/>
              </a:ext>
            </a:extLst>
          </p:cNvPr>
          <p:cNvSpPr txBox="1"/>
          <p:nvPr/>
        </p:nvSpPr>
        <p:spPr>
          <a:xfrm>
            <a:off x="6030162" y="4906707"/>
            <a:ext cx="465976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350" dirty="0"/>
              <a:t>https://github.com/Yuson-Jimmy/PJ-NLP2</a:t>
            </a:r>
            <a:endParaRPr lang="zh-CN" altLang="en-US" sz="135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EC5E793F-043A-8059-FC6D-90233EE50717}"/>
              </a:ext>
            </a:extLst>
          </p:cNvPr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5. 主结果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4463456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zh-CN" sz="21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r>
              <a:rPr lang="en-US" sz="21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错误分析 / 失败案例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10/12</a:t>
            </a:r>
            <a:endParaRPr lang="en-US" sz="84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B5759E-7867-BB0B-F6ED-1A29FC68552A}"/>
              </a:ext>
            </a:extLst>
          </p:cNvPr>
          <p:cNvSpPr txBox="1"/>
          <p:nvPr/>
        </p:nvSpPr>
        <p:spPr>
          <a:xfrm>
            <a:off x="457200" y="1079675"/>
            <a:ext cx="679433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一开始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使用的的</a:t>
            </a:r>
            <a:r>
              <a:rPr lang="en-US" altLang="zh-CN" sz="18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tiktoken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库直接调用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GPT2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的编码库来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encode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文本会将“萧”字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encode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[164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238 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100]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，同时对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[164]decode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会得到乱码，不符合将一个字映射为一个数的想法。最后选择自己写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encode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部分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采用了逐个统计的方式统计汉字或者字符</a:t>
            </a:r>
            <a:r>
              <a:rPr lang="zh-CN" altLang="en-US" sz="18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2779CA1-45F0-7B15-C214-5F880602440F}"/>
              </a:ext>
            </a:extLst>
          </p:cNvPr>
          <p:cNvSpPr txBox="1"/>
          <p:nvPr/>
        </p:nvSpPr>
        <p:spPr>
          <a:xfrm>
            <a:off x="457200" y="2870546"/>
            <a:ext cx="6585995" cy="166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当有一部分数据位于</a:t>
            </a:r>
            <a:r>
              <a:rPr lang="en-US" altLang="zh-CN" sz="18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cuda</a:t>
            </a:r>
            <a:r>
              <a:rPr lang="zh-CN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上，一部分位于</a:t>
            </a:r>
            <a:r>
              <a:rPr lang="en-US" altLang="zh-CN" sz="18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cpu</a:t>
            </a:r>
            <a:r>
              <a:rPr lang="zh-CN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上会产生</a:t>
            </a:r>
            <a:r>
              <a:rPr lang="en-US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runtime error</a:t>
            </a:r>
            <a:r>
              <a:rPr lang="zh-CN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的报错。解决方法有两个：</a:t>
            </a:r>
            <a:r>
              <a:rPr lang="en-US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让代码更加</a:t>
            </a:r>
            <a:r>
              <a:rPr lang="en-US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robust</a:t>
            </a:r>
            <a:r>
              <a:rPr lang="zh-CN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，用一个</a:t>
            </a:r>
            <a:r>
              <a:rPr lang="en-US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device</a:t>
            </a:r>
            <a:r>
              <a:rPr lang="zh-CN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变量决定所有数据的运算位置</a:t>
            </a:r>
            <a:r>
              <a:rPr lang="en-US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手动将报错处的矩阵运用</a:t>
            </a:r>
            <a:r>
              <a:rPr lang="en-US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to</a:t>
            </a:r>
            <a:r>
              <a:rPr lang="zh-CN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（“</a:t>
            </a:r>
            <a:r>
              <a:rPr lang="en-US" altLang="zh-CN" sz="18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cuda</a:t>
            </a:r>
            <a:r>
              <a:rPr lang="zh-CN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”）函数放入</a:t>
            </a:r>
            <a:r>
              <a:rPr lang="en-US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GPU</a:t>
            </a:r>
            <a:r>
              <a:rPr lang="zh-CN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中进行运算。本次</a:t>
            </a:r>
            <a:r>
              <a:rPr lang="en-US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PJ</a:t>
            </a:r>
            <a:r>
              <a:rPr lang="zh-CN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先选取第二种方式解决问题。</a:t>
            </a:r>
            <a:endParaRPr lang="zh-CN" altLang="zh-CN" sz="16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zh-CN" sz="21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r>
              <a:rPr lang="en-US" sz="21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工程与复现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957834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7200" y="925830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5892569"/>
              </p:ext>
            </p:extLst>
          </p:nvPr>
        </p:nvGraphicFramePr>
        <p:xfrm>
          <a:off x="457200" y="1268730"/>
          <a:ext cx="8229600" cy="2688336"/>
        </p:xfrm>
        <a:graphic>
          <a:graphicData uri="http://schemas.openxmlformats.org/drawingml/2006/table">
            <a:tbl>
              <a:tblPr/>
              <a:tblGrid>
                <a:gridCol w="1975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0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交付物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 err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文件名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状态</a:t>
                      </a:r>
                      <a:endParaRPr lang="en-US"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 err="1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代码</a:t>
                      </a:r>
                      <a:endParaRPr 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000" dirty="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encoder-</a:t>
                      </a:r>
                      <a:r>
                        <a:rPr lang="en-US" altLang="zh-CN" sz="1000" dirty="0" err="1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only</a:t>
                      </a:r>
                      <a:r>
                        <a:rPr lang="en-US" sz="1000" dirty="0" err="1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.ipynb</a:t>
                      </a:r>
                      <a:r>
                        <a:rPr lang="zh-CN" altLang="en-US" sz="1000" dirty="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存放于 可复现代码及对应的</a:t>
                      </a:r>
                      <a:r>
                        <a:rPr lang="en-US" altLang="zh-CN" sz="1000" dirty="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PPL</a:t>
                      </a:r>
                      <a:r>
                        <a:rPr lang="zh-CN" altLang="en-US" sz="1000" dirty="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曲线</a:t>
                      </a:r>
                      <a:r>
                        <a:rPr lang="en-US" altLang="zh-CN" sz="1000" dirty="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.zip</a:t>
                      </a:r>
                      <a:endParaRPr 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 err="1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已完成</a:t>
                      </a:r>
                      <a:endParaRPr 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环境文件</a:t>
                      </a:r>
                      <a:endParaRPr 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requirements.tx</a:t>
                      </a:r>
                      <a:r>
                        <a:rPr lang="en-US" altLang="zh-CN" sz="1000" dirty="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t</a:t>
                      </a:r>
                      <a:endParaRPr 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 err="1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已完成</a:t>
                      </a:r>
                      <a:endParaRPr 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报告</a:t>
                      </a:r>
                      <a:endParaRPr 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report.pdf，正文约 6 页</a:t>
                      </a:r>
                      <a:endParaRPr 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 err="1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已完成</a:t>
                      </a:r>
                      <a:r>
                        <a:rPr lang="en-US" sz="1000" dirty="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 </a:t>
                      </a:r>
                      <a:endParaRPr 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结果文件</a:t>
                      </a:r>
                      <a:endParaRPr 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PPL.png</a:t>
                      </a:r>
                      <a:r>
                        <a:rPr lang="zh-CN" altLang="en-US" sz="1000" dirty="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位于 可复现代码及对应的</a:t>
                      </a:r>
                      <a:r>
                        <a:rPr lang="en-US" altLang="zh-CN" sz="1000" dirty="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PPL</a:t>
                      </a:r>
                      <a:r>
                        <a:rPr lang="zh-CN" altLang="en-US" sz="1000" dirty="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曲线</a:t>
                      </a:r>
                      <a:r>
                        <a:rPr lang="en-US" altLang="zh-CN" sz="1000" dirty="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.zip</a:t>
                      </a:r>
                      <a:endParaRPr 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 err="1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已完成</a:t>
                      </a:r>
                      <a:endParaRPr 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GitHub 链接</a:t>
                      </a:r>
                      <a:endParaRPr 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https://github.com/Yuson-Jimmy/PJ-NLP2</a:t>
                      </a:r>
                      <a:endParaRPr 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 err="1">
                          <a:solidFill>
                            <a:srgbClr val="1B283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-120"/>
                        </a:rPr>
                        <a:t>已完成</a:t>
                      </a:r>
                      <a:endParaRPr 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00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0"/>
                        </a:rPr>
                        <a:t>复现方式</a:t>
                      </a:r>
                      <a:endParaRPr 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00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0"/>
                        </a:rPr>
                        <a:t>由于采用网络算力平台，见</a:t>
                      </a:r>
                      <a:r>
                        <a:rPr lang="en-US" altLang="zh-CN" sz="100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0"/>
                        </a:rPr>
                        <a:t>report.pdf</a:t>
                      </a:r>
                      <a:endParaRPr 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" pitchFamily="34" charset="0"/>
                        </a:rPr>
                        <a:t>已完成</a:t>
                      </a:r>
                      <a:endParaRPr 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2100957"/>
                  </a:ext>
                </a:extLst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11/12</a:t>
            </a:r>
            <a:endParaRPr lang="en-US" sz="8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zh-CN" sz="21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r>
              <a:rPr lang="en-US" sz="21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总结与诚信声明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957834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7200" y="925830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799082"/>
            <a:ext cx="4005072" cy="293496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799082"/>
            <a:ext cx="4005072" cy="9144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 txBox="1"/>
          <p:nvPr/>
        </p:nvSpPr>
        <p:spPr>
          <a:xfrm>
            <a:off x="685800" y="2055114"/>
            <a:ext cx="3547872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结论：不超过 10 行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405633"/>
            <a:ext cx="3547872" cy="218372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n-US" altLang="zh-CN" dirty="0"/>
              <a:t>1.</a:t>
            </a:r>
            <a:r>
              <a:rPr lang="zh-CN" altLang="zh-CN" dirty="0"/>
              <a:t>成功实现了现</a:t>
            </a:r>
            <a:r>
              <a:rPr lang="en-US" altLang="zh-CN" dirty="0"/>
              <a:t>Encoder-only</a:t>
            </a:r>
            <a:r>
              <a:rPr lang="zh-CN" altLang="zh-CN" dirty="0"/>
              <a:t>架构的简化版 </a:t>
            </a:r>
            <a:r>
              <a:rPr lang="en-US" altLang="zh-CN" dirty="0"/>
              <a:t>Transformer</a:t>
            </a:r>
            <a:r>
              <a:rPr lang="zh-CN" altLang="zh-CN" dirty="0"/>
              <a:t>，完成</a:t>
            </a:r>
            <a:r>
              <a:rPr lang="en-US" altLang="zh-CN" dirty="0"/>
              <a:t>Next-token</a:t>
            </a:r>
            <a:r>
              <a:rPr lang="zh-CN" altLang="zh-CN" dirty="0"/>
              <a:t>预测任务。</a:t>
            </a:r>
            <a:endParaRPr lang="en-US" altLang="zh-CN" dirty="0"/>
          </a:p>
          <a:p>
            <a:r>
              <a:rPr lang="en-US" altLang="zh-CN" dirty="0"/>
              <a:t>2.PPL</a:t>
            </a:r>
            <a:r>
              <a:rPr lang="zh-CN" altLang="en-US" dirty="0"/>
              <a:t>曲线不再下降的原因是数据集过少，能够模型学习的内容少，语言模型强大能力的基础是充足的可学习的语料。</a:t>
            </a:r>
            <a:endParaRPr lang="zh-CN" altLang="zh-CN" dirty="0"/>
          </a:p>
        </p:txBody>
      </p:sp>
      <p:sp>
        <p:nvSpPr>
          <p:cNvPr id="10" name="Shape 8"/>
          <p:cNvSpPr/>
          <p:nvPr/>
        </p:nvSpPr>
        <p:spPr>
          <a:xfrm>
            <a:off x="4681728" y="1799082"/>
            <a:ext cx="4005072" cy="293496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681728" y="1799082"/>
            <a:ext cx="4005072" cy="91440"/>
          </a:xfrm>
          <a:prstGeom prst="rect">
            <a:avLst/>
          </a:prstGeom>
          <a:solidFill>
            <a:srgbClr val="C9302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 txBox="1"/>
          <p:nvPr/>
        </p:nvSpPr>
        <p:spPr>
          <a:xfrm>
            <a:off x="4910328" y="2055114"/>
            <a:ext cx="3547872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诚信声明：工具与范围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910328" y="2439163"/>
            <a:ext cx="3547872" cy="15772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dirty="0" err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Helvetica Neue" pitchFamily="34" charset="-120"/>
              </a:rPr>
              <a:t>本项目使用搜索引擎查阅资料；使用辅助工具解释概念</a:t>
            </a:r>
            <a:r>
              <a:rPr lang="en-US" sz="2000" dirty="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Helvetica Neue" pitchFamily="34" charset="-120"/>
              </a:rPr>
              <a:t>、</a:t>
            </a:r>
            <a:r>
              <a:rPr lang="zh-CN" altLang="en-US" sz="2000" dirty="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Helvetica Neue" pitchFamily="34" charset="-120"/>
              </a:rPr>
              <a:t>搜集</a:t>
            </a:r>
            <a:r>
              <a:rPr lang="en-US" sz="2000" dirty="0" err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Helvetica Neue" pitchFamily="34" charset="-120"/>
              </a:rPr>
              <a:t>报错</a:t>
            </a:r>
            <a:r>
              <a:rPr lang="zh-CN" altLang="en-US" sz="2000" dirty="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Helvetica Neue" pitchFamily="34" charset="-120"/>
              </a:rPr>
              <a:t>相关资料</a:t>
            </a:r>
            <a:r>
              <a:rPr lang="en-US" sz="2000" dirty="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Helvetica Neue" pitchFamily="34" charset="-120"/>
              </a:rPr>
              <a:t>；未使用工具直接生成完整代码、完整答案或报告正文。</a:t>
            </a:r>
            <a:endParaRPr 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12/12</a:t>
            </a:r>
            <a:endParaRPr lang="en-US" sz="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914</Words>
  <Application>Microsoft Office PowerPoint</Application>
  <PresentationFormat>全屏显示(16:9)</PresentationFormat>
  <Paragraphs>122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Helvetica Neue</vt:lpstr>
      <vt:lpstr>等线</vt:lpstr>
      <vt:lpstr>宋体</vt:lpstr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人工智能导论课程项目汇报模板</dc:title>
  <dc:subject>按课程项目说明组织中期/最终汇报</dc:subject>
  <dc:creator>PptxGenJS</dc:creator>
  <cp:lastModifiedBy>桂连 罗</cp:lastModifiedBy>
  <cp:revision>24</cp:revision>
  <dcterms:created xsi:type="dcterms:W3CDTF">2026-06-03T11:53:00Z</dcterms:created>
  <dcterms:modified xsi:type="dcterms:W3CDTF">2026-06-05T15:39:26Z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E90B4495C38B47A6A710DB876DCD8864_12</vt:lpwstr>
  </property>
  <property fmtid="{D5CDD505-2E9C-101B-9397-08002B2CF9AE}" pid="3" name="KSOProductBuildVer">
    <vt:lpwstr>2052-12.8.2.18205</vt:lpwstr>
  </property>
</Properties>
</file>